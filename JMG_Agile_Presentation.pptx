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58BF8-6C8F-4EE6-BD77-E1E04801C83B}" v="35" dt="2025-12-14T18:09:23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4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RETT, JACOB" userId="916ce5b7-be81-415c-a1e8-1fcb24f04cc2" providerId="ADAL" clId="{F4A61E3F-13AF-4574-9236-1D56AA55E380}"/>
    <pc:docChg chg="undo custSel addSld delSld modSld modMainMaster">
      <pc:chgData name="GARRETT, JACOB" userId="916ce5b7-be81-415c-a1e8-1fcb24f04cc2" providerId="ADAL" clId="{F4A61E3F-13AF-4574-9236-1D56AA55E380}" dt="2025-12-14T18:13:37.660" v="140" actId="20577"/>
      <pc:docMkLst>
        <pc:docMk/>
      </pc:docMkLst>
      <pc:sldChg chg="modSp mod modTransition">
        <pc:chgData name="GARRETT, JACOB" userId="916ce5b7-be81-415c-a1e8-1fcb24f04cc2" providerId="ADAL" clId="{F4A61E3F-13AF-4574-9236-1D56AA55E380}" dt="2025-12-14T18:13:37.660" v="140" actId="20577"/>
        <pc:sldMkLst>
          <pc:docMk/>
          <pc:sldMk cId="0" sldId="256"/>
        </pc:sldMkLst>
        <pc:spChg chg="mod">
          <ac:chgData name="GARRETT, JACOB" userId="916ce5b7-be81-415c-a1e8-1fcb24f04cc2" providerId="ADAL" clId="{F4A61E3F-13AF-4574-9236-1D56AA55E380}" dt="2025-12-14T17:49:37.757" v="2"/>
          <ac:spMkLst>
            <pc:docMk/>
            <pc:sldMk cId="0" sldId="256"/>
            <ac:spMk id="2" creationId="{00000000-0000-0000-0000-000000000000}"/>
          </ac:spMkLst>
        </pc:spChg>
        <pc:spChg chg="mod">
          <ac:chgData name="GARRETT, JACOB" userId="916ce5b7-be81-415c-a1e8-1fcb24f04cc2" providerId="ADAL" clId="{F4A61E3F-13AF-4574-9236-1D56AA55E380}" dt="2025-12-14T18:13:37.660" v="14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 modTransition">
        <pc:chgData name="GARRETT, JACOB" userId="916ce5b7-be81-415c-a1e8-1fcb24f04cc2" providerId="ADAL" clId="{F4A61E3F-13AF-4574-9236-1D56AA55E380}" dt="2025-12-14T18:09:02.552" v="133"/>
        <pc:sldMkLst>
          <pc:docMk/>
          <pc:sldMk cId="0" sldId="257"/>
        </pc:sldMkLst>
        <pc:spChg chg="mod">
          <ac:chgData name="GARRETT, JACOB" userId="916ce5b7-be81-415c-a1e8-1fcb24f04cc2" providerId="ADAL" clId="{F4A61E3F-13AF-4574-9236-1D56AA55E380}" dt="2025-12-14T17:54:44.796" v="82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GARRETT, JACOB" userId="916ce5b7-be81-415c-a1e8-1fcb24f04cc2" providerId="ADAL" clId="{F4A61E3F-13AF-4574-9236-1D56AA55E380}" dt="2025-12-14T17:55:10.798" v="90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 modTransition">
        <pc:chgData name="GARRETT, JACOB" userId="916ce5b7-be81-415c-a1e8-1fcb24f04cc2" providerId="ADAL" clId="{F4A61E3F-13AF-4574-9236-1D56AA55E380}" dt="2025-12-14T18:09:02.552" v="133"/>
        <pc:sldMkLst>
          <pc:docMk/>
          <pc:sldMk cId="0" sldId="258"/>
        </pc:sldMkLst>
        <pc:spChg chg="mod">
          <ac:chgData name="GARRETT, JACOB" userId="916ce5b7-be81-415c-a1e8-1fcb24f04cc2" providerId="ADAL" clId="{F4A61E3F-13AF-4574-9236-1D56AA55E380}" dt="2025-12-11T01:18:50.884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GARRETT, JACOB" userId="916ce5b7-be81-415c-a1e8-1fcb24f04cc2" providerId="ADAL" clId="{F4A61E3F-13AF-4574-9236-1D56AA55E380}" dt="2025-12-14T17:55:39.196" v="95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modTransition">
        <pc:chgData name="GARRETT, JACOB" userId="916ce5b7-be81-415c-a1e8-1fcb24f04cc2" providerId="ADAL" clId="{F4A61E3F-13AF-4574-9236-1D56AA55E380}" dt="2025-12-14T18:09:02.552" v="133"/>
        <pc:sldMkLst>
          <pc:docMk/>
          <pc:sldMk cId="0" sldId="259"/>
        </pc:sldMkLst>
        <pc:spChg chg="mod">
          <ac:chgData name="GARRETT, JACOB" userId="916ce5b7-be81-415c-a1e8-1fcb24f04cc2" providerId="ADAL" clId="{F4A61E3F-13AF-4574-9236-1D56AA55E380}" dt="2025-12-14T17:55:53.436" v="96"/>
          <ac:spMkLst>
            <pc:docMk/>
            <pc:sldMk cId="0" sldId="259"/>
            <ac:spMk id="2" creationId="{00000000-0000-0000-0000-000000000000}"/>
          </ac:spMkLst>
        </pc:spChg>
        <pc:spChg chg="mod">
          <ac:chgData name="GARRETT, JACOB" userId="916ce5b7-be81-415c-a1e8-1fcb24f04cc2" providerId="ADAL" clId="{F4A61E3F-13AF-4574-9236-1D56AA55E380}" dt="2025-12-14T17:56:32.649" v="10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 modTransition">
        <pc:chgData name="GARRETT, JACOB" userId="916ce5b7-be81-415c-a1e8-1fcb24f04cc2" providerId="ADAL" clId="{F4A61E3F-13AF-4574-9236-1D56AA55E380}" dt="2025-12-14T18:09:02.552" v="133"/>
        <pc:sldMkLst>
          <pc:docMk/>
          <pc:sldMk cId="0" sldId="260"/>
        </pc:sldMkLst>
        <pc:spChg chg="mod">
          <ac:chgData name="GARRETT, JACOB" userId="916ce5b7-be81-415c-a1e8-1fcb24f04cc2" providerId="ADAL" clId="{F4A61E3F-13AF-4574-9236-1D56AA55E380}" dt="2025-12-11T01:18:50.884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GARRETT, JACOB" userId="916ce5b7-be81-415c-a1e8-1fcb24f04cc2" providerId="ADAL" clId="{F4A61E3F-13AF-4574-9236-1D56AA55E380}" dt="2025-12-14T17:58:45.832" v="112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 modTransition">
        <pc:chgData name="GARRETT, JACOB" userId="916ce5b7-be81-415c-a1e8-1fcb24f04cc2" providerId="ADAL" clId="{F4A61E3F-13AF-4574-9236-1D56AA55E380}" dt="2025-12-14T18:09:02.552" v="133"/>
        <pc:sldMkLst>
          <pc:docMk/>
          <pc:sldMk cId="0" sldId="261"/>
        </pc:sldMkLst>
        <pc:spChg chg="mod">
          <ac:chgData name="GARRETT, JACOB" userId="916ce5b7-be81-415c-a1e8-1fcb24f04cc2" providerId="ADAL" clId="{F4A61E3F-13AF-4574-9236-1D56AA55E380}" dt="2025-12-11T01:18:50.884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GARRETT, JACOB" userId="916ce5b7-be81-415c-a1e8-1fcb24f04cc2" providerId="ADAL" clId="{F4A61E3F-13AF-4574-9236-1D56AA55E380}" dt="2025-12-14T18:06:38.148" v="126" actId="6549"/>
          <ac:spMkLst>
            <pc:docMk/>
            <pc:sldMk cId="0" sldId="261"/>
            <ac:spMk id="3" creationId="{00000000-0000-0000-0000-000000000000}"/>
          </ac:spMkLst>
        </pc:spChg>
      </pc:sldChg>
      <pc:sldChg chg="modSp mod modTransition">
        <pc:chgData name="GARRETT, JACOB" userId="916ce5b7-be81-415c-a1e8-1fcb24f04cc2" providerId="ADAL" clId="{F4A61E3F-13AF-4574-9236-1D56AA55E380}" dt="2025-12-14T18:09:02.552" v="133"/>
        <pc:sldMkLst>
          <pc:docMk/>
          <pc:sldMk cId="0" sldId="262"/>
        </pc:sldMkLst>
        <pc:spChg chg="mod">
          <ac:chgData name="GARRETT, JACOB" userId="916ce5b7-be81-415c-a1e8-1fcb24f04cc2" providerId="ADAL" clId="{F4A61E3F-13AF-4574-9236-1D56AA55E380}" dt="2025-12-11T01:18:50.884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GARRETT, JACOB" userId="916ce5b7-be81-415c-a1e8-1fcb24f04cc2" providerId="ADAL" clId="{F4A61E3F-13AF-4574-9236-1D56AA55E380}" dt="2025-12-14T18:08:27.097" v="132" actId="6549"/>
          <ac:spMkLst>
            <pc:docMk/>
            <pc:sldMk cId="0" sldId="262"/>
            <ac:spMk id="3" creationId="{00000000-0000-0000-0000-000000000000}"/>
          </ac:spMkLst>
        </pc:spChg>
      </pc:sldChg>
      <pc:sldChg chg="modSp mod modTransition">
        <pc:chgData name="GARRETT, JACOB" userId="916ce5b7-be81-415c-a1e8-1fcb24f04cc2" providerId="ADAL" clId="{F4A61E3F-13AF-4574-9236-1D56AA55E380}" dt="2025-12-14T18:09:02.552" v="133"/>
        <pc:sldMkLst>
          <pc:docMk/>
          <pc:sldMk cId="0" sldId="263"/>
        </pc:sldMkLst>
        <pc:spChg chg="mod">
          <ac:chgData name="GARRETT, JACOB" userId="916ce5b7-be81-415c-a1e8-1fcb24f04cc2" providerId="ADAL" clId="{F4A61E3F-13AF-4574-9236-1D56AA55E380}" dt="2025-12-11T01:18:50.884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GARRETT, JACOB" userId="916ce5b7-be81-415c-a1e8-1fcb24f04cc2" providerId="ADAL" clId="{F4A61E3F-13AF-4574-9236-1D56AA55E380}" dt="2025-12-14T18:02:54.618" v="121" actId="3626"/>
          <ac:spMkLst>
            <pc:docMk/>
            <pc:sldMk cId="0" sldId="263"/>
            <ac:spMk id="3" creationId="{00000000-0000-0000-0000-000000000000}"/>
          </ac:spMkLst>
        </pc:spChg>
      </pc:sldChg>
      <pc:sldChg chg="new del">
        <pc:chgData name="GARRETT, JACOB" userId="916ce5b7-be81-415c-a1e8-1fcb24f04cc2" providerId="ADAL" clId="{F4A61E3F-13AF-4574-9236-1D56AA55E380}" dt="2025-12-14T17:53:15.889" v="48" actId="47"/>
        <pc:sldMkLst>
          <pc:docMk/>
          <pc:sldMk cId="370932039" sldId="264"/>
        </pc:sldMkLst>
      </pc:sldChg>
      <pc:sldChg chg="modSp add mod modTransition">
        <pc:chgData name="GARRETT, JACOB" userId="916ce5b7-be81-415c-a1e8-1fcb24f04cc2" providerId="ADAL" clId="{F4A61E3F-13AF-4574-9236-1D56AA55E380}" dt="2025-12-14T18:09:02.552" v="133"/>
        <pc:sldMkLst>
          <pc:docMk/>
          <pc:sldMk cId="4261853200" sldId="265"/>
        </pc:sldMkLst>
        <pc:spChg chg="mod">
          <ac:chgData name="GARRETT, JACOB" userId="916ce5b7-be81-415c-a1e8-1fcb24f04cc2" providerId="ADAL" clId="{F4A61E3F-13AF-4574-9236-1D56AA55E380}" dt="2025-12-14T17:53:31.751" v="71" actId="20577"/>
          <ac:spMkLst>
            <pc:docMk/>
            <pc:sldMk cId="4261853200" sldId="265"/>
            <ac:spMk id="2" creationId="{366A8DB7-FD43-8395-4BBB-934734F5E5C6}"/>
          </ac:spMkLst>
        </pc:spChg>
        <pc:spChg chg="mod">
          <ac:chgData name="GARRETT, JACOB" userId="916ce5b7-be81-415c-a1e8-1fcb24f04cc2" providerId="ADAL" clId="{F4A61E3F-13AF-4574-9236-1D56AA55E380}" dt="2025-12-14T17:54:20.873" v="80" actId="20577"/>
          <ac:spMkLst>
            <pc:docMk/>
            <pc:sldMk cId="4261853200" sldId="265"/>
            <ac:spMk id="3" creationId="{272A2141-BEB3-73D2-C077-BD37C2CF2334}"/>
          </ac:spMkLst>
        </pc:spChg>
      </pc:sldChg>
      <pc:sldMasterChg chg="modTransition modSldLayout">
        <pc:chgData name="GARRETT, JACOB" userId="916ce5b7-be81-415c-a1e8-1fcb24f04cc2" providerId="ADAL" clId="{F4A61E3F-13AF-4574-9236-1D56AA55E380}" dt="2025-12-14T18:09:02.552" v="133"/>
        <pc:sldMasterMkLst>
          <pc:docMk/>
          <pc:sldMasterMk cId="1817252002" sldId="2147483660"/>
        </pc:sldMasterMkLst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2493672769" sldId="2147483661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3049532388" sldId="2147483662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330182154" sldId="2147483663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1659430447" sldId="2147483664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304419986" sldId="2147483665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899758010" sldId="2147483666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3644111850" sldId="2147483667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3133813062" sldId="2147483668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1992354522" sldId="2147483669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355650155" sldId="2147483670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1602031060" sldId="2147483671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1614795391" sldId="2147483672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1365096178" sldId="2147483673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2581070730" sldId="2147483674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327539152" sldId="2147483675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4084776965" sldId="2147483676"/>
          </pc:sldLayoutMkLst>
        </pc:sldLayoutChg>
        <pc:sldLayoutChg chg="modTransition">
          <pc:chgData name="GARRETT, JACOB" userId="916ce5b7-be81-415c-a1e8-1fcb24f04cc2" providerId="ADAL" clId="{F4A61E3F-13AF-4574-9236-1D56AA55E380}" dt="2025-12-14T18:09:02.552" v="133"/>
          <pc:sldLayoutMkLst>
            <pc:docMk/>
            <pc:sldMasterMk cId="1817252002" sldId="2147483660"/>
            <pc:sldLayoutMk cId="35386849" sldId="214748367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72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32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2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0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9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58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11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13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54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0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31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4795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96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70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9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76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52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tal.ai/resource-center/reports/state-of-agile-repor" TargetMode="External"/><Relationship Id="rId2" Type="http://schemas.openxmlformats.org/officeDocument/2006/relationships/hyperlink" Target="https://www.atlassian.com/agil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TSE.2021.3052671" TargetMode="External"/><Relationship Id="rId4" Type="http://schemas.openxmlformats.org/officeDocument/2006/relationships/hyperlink" Target="https://www.scrumalliance.org/why-scrum/agile-tes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Adopting Scrum-Agile at </a:t>
            </a:r>
            <a:r>
              <a:rPr lang="en-US" dirty="0" err="1"/>
              <a:t>ChadaTech</a:t>
            </a:r>
            <a:r>
              <a:rPr lang="en-US" dirty="0"/>
              <a:t>: Lessons from the SNHU Travel Pilot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n-US" dirty="0"/>
              <a:t>Sprint Review </a:t>
            </a:r>
            <a:r>
              <a:rPr lang="en-US"/>
              <a:t>and Retrospective</a:t>
            </a:r>
            <a:endParaRPr lang="en-US" dirty="0"/>
          </a:p>
          <a:p>
            <a:pPr lvl="1"/>
            <a:r>
              <a:rPr lang="en-US" dirty="0"/>
              <a:t>Presenter: Jacob Garrett</a:t>
            </a:r>
            <a:endParaRPr dirty="0"/>
          </a:p>
          <a:p>
            <a:pPr lvl="1"/>
            <a:r>
              <a:rPr lang="en-US" dirty="0"/>
              <a:t>Date: 12/14/2025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E2877-DED4-6CFA-5A2A-EF52ED0A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8DB7-FD43-8395-4BBB-934734F5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Scrum-Agile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A2141-BEB3-73D2-C077-BD37C2CF2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n-US" dirty="0"/>
              <a:t>Scrum-Agile is an iterative framework that emphasizes incremental delivery, frequent stakeholder feedback, and cross-functional collaboration.</a:t>
            </a:r>
          </a:p>
          <a:p>
            <a:pPr lvl="1"/>
            <a:r>
              <a:rPr lang="en-US" dirty="0"/>
              <a:t>By working in short sprints, teams deliver usable increments of value early and adapt to changing requirements (Scrum Alliance, 2021).</a:t>
            </a:r>
          </a:p>
          <a:p>
            <a:pPr lvl="1"/>
            <a:r>
              <a:rPr lang="en-US" dirty="0"/>
              <a:t>For organizations moving from waterfall to Agile, Scrum provides structure for continuous improvement while enabling faster learning cycles.</a:t>
            </a:r>
          </a:p>
        </p:txBody>
      </p:sp>
    </p:spTree>
    <p:extLst>
      <p:ext uri="{BB962C8B-B14F-4D97-AF65-F5344CB8AC3E}">
        <p14:creationId xmlns:p14="http://schemas.microsoft.com/office/powerpoint/2010/main" val="4261853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Explaining Agile Roles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lang="en-US" dirty="0"/>
              <a:t>Product Owner: Defines and prioritizes the backlog to ensure the team builds the highest-value features and represents stakeholder needs (Scrum Alliance, 2021).</a:t>
            </a:r>
          </a:p>
          <a:p>
            <a:r>
              <a:rPr lang="en-US" dirty="0"/>
              <a:t>Scrum Master: Facilitates Scrum events, removes impediments, and coaches the team on Agile practices to maintain flow and continuous improvement.</a:t>
            </a:r>
          </a:p>
          <a:p>
            <a:r>
              <a:rPr lang="en-US" dirty="0"/>
              <a:t>Development Team: Cross-functional members who design, build, and test increments; shared accountability accelerates delivery and reduces handoffs.</a:t>
            </a:r>
          </a:p>
          <a:p>
            <a:pPr lvl="1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SDLC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Requirements: Captured continuously as user stories and refined through backlog grooming rather than frozen up front (Atlassian, 2023).</a:t>
            </a:r>
          </a:p>
          <a:p>
            <a:r>
              <a:rPr lang="en-US" dirty="0"/>
              <a:t>Development and Testing: Occur concurrently within sprints, enabling early defect detection and fast feedback loops (Stray et al., 2022).</a:t>
            </a:r>
          </a:p>
          <a:p>
            <a:r>
              <a:rPr lang="en-US" dirty="0"/>
              <a:t>Review and Retrospective: Sprint review collects stakeholder feedback; retrospective drives process improvements for the next sprint.</a:t>
            </a:r>
          </a:p>
          <a:p>
            <a:pPr lvl="1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Waterfall vs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lang="en-US" dirty="0"/>
              <a:t>Waterfall uses linear phases with fixed requirements and limited opportunity for midcourse corrections, making late changes costly.</a:t>
            </a:r>
          </a:p>
          <a:p>
            <a:r>
              <a:rPr lang="en-US" dirty="0"/>
              <a:t>Agile treats change as expected, enabling reprioritization and incremental delivery; this reduces the risk of building the wrong solution.</a:t>
            </a:r>
          </a:p>
          <a:p>
            <a:r>
              <a:rPr lang="en-US" dirty="0"/>
              <a:t>In the SNHU Travel pilot, Agile allowed us to incorporate stakeholder feedback quickly; a waterfall approach would have delayed adaptation and increased rework (Digital.ai, 2024).</a:t>
            </a:r>
          </a:p>
          <a:p>
            <a:pPr lvl="1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n-US" dirty="0"/>
              <a:t>Project uncertainty and evolving requirements favor Agile because of its iterative, feedback driven approach.</a:t>
            </a:r>
          </a:p>
          <a:p>
            <a:pPr lvl="1"/>
            <a:r>
              <a:rPr lang="en-US" dirty="0"/>
              <a:t>If requirements are stable, regulatory, or highly constrained, waterfall can provide predictability and easier compliance tracking.</a:t>
            </a:r>
          </a:p>
          <a:p>
            <a:pPr lvl="1"/>
            <a:r>
              <a:rPr lang="en-US" dirty="0"/>
              <a:t>Also consider team maturity, stakeholder availability, and tooling: successful Agile adoption depends on collaboration and visibility supported by tools like JIRA or Azure Boards (Atlassian, 2023; Digital.ai, 2024).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Agile Project-Management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n-US" dirty="0"/>
              <a:t>JIRA supports backlog management, sprint planning, and workflow tracking, enabling teams to manage development tasks efficiently.</a:t>
            </a:r>
          </a:p>
          <a:p>
            <a:pPr lvl="1"/>
            <a:r>
              <a:rPr lang="en-US" dirty="0"/>
              <a:t>Azure Boards enhances team visibility and collaboration by providing real-time insight into work progress and priorities.</a:t>
            </a:r>
          </a:p>
          <a:p>
            <a:pPr lvl="1"/>
            <a:r>
              <a:rPr lang="en-US" dirty="0"/>
              <a:t>Together, these tools centralize communication and tracking, improving coordination and accountability across the Scrum team.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n-US" dirty="0"/>
              <a:t>The Agile approach promotes transparency and adaptability by encouraging continuous feedback and iterative improvement.</a:t>
            </a:r>
          </a:p>
          <a:p>
            <a:pPr lvl="1"/>
            <a:r>
              <a:rPr lang="en-US" dirty="0"/>
              <a:t>Scrum events strengthen team alignment by creating regular opportunities for communication, inspection, and adjustment.</a:t>
            </a:r>
          </a:p>
          <a:p>
            <a:pPr lvl="1"/>
            <a:r>
              <a:rPr lang="en-US" dirty="0"/>
              <a:t>Agile tools further support coordination and efficiency by centralizing information and enabling real-time collaboration across the team.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dirty="0"/>
              <a:t>Atlassian. (2023). Agile project management overview. </a:t>
            </a:r>
            <a:r>
              <a:rPr lang="en-US" dirty="0">
                <a:hlinkClick r:id="rId2"/>
              </a:rPr>
              <a:t>https://www.atlassian.com/agile</a:t>
            </a:r>
            <a:endParaRPr lang="en-US" dirty="0"/>
          </a:p>
          <a:p>
            <a:r>
              <a:rPr lang="en-US" dirty="0"/>
              <a:t>Digital.ai. (2024). State of Agile report 2024. </a:t>
            </a:r>
            <a:r>
              <a:rPr lang="en-US" dirty="0">
                <a:hlinkClick r:id="rId3"/>
              </a:rPr>
              <a:t>https://www.digital.ai/resource-center/reports/state-of-agile-repor</a:t>
            </a:r>
            <a:r>
              <a:rPr lang="en-US" dirty="0"/>
              <a:t>t</a:t>
            </a:r>
          </a:p>
          <a:p>
            <a:r>
              <a:rPr lang="en-US" dirty="0"/>
              <a:t>Scrum Alliance. (2021). Agile testing principles and practices. </a:t>
            </a:r>
            <a:r>
              <a:rPr lang="en-US" dirty="0">
                <a:hlinkClick r:id="rId4"/>
              </a:rPr>
              <a:t>https://www.scrumalliance.org/why-scrum/agile-testing</a:t>
            </a:r>
            <a:endParaRPr lang="en-US" dirty="0"/>
          </a:p>
          <a:p>
            <a:r>
              <a:rPr lang="en-US" dirty="0"/>
              <a:t>Stray, V., Fagerholm, F., &amp; </a:t>
            </a:r>
            <a:r>
              <a:rPr lang="en-US" dirty="0" err="1"/>
              <a:t>Dybå</a:t>
            </a:r>
            <a:r>
              <a:rPr lang="en-US" dirty="0"/>
              <a:t>, T. (2022). The daily stand-up meeting: A grounded theory study. IEEE Transactions on Software Engineering, 48(10), 3854–3868. </a:t>
            </a:r>
            <a:r>
              <a:rPr lang="en-US" dirty="0">
                <a:hlinkClick r:id="rId5"/>
              </a:rPr>
              <a:t>https://doi.org/10.1109/TSE.2021.3052671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611</Words>
  <Application>Microsoft Office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Adopting Scrum-Agile at ChadaTech: Lessons from the SNHU Travel Pilot </vt:lpstr>
      <vt:lpstr>Overview of Scrum-Agile</vt:lpstr>
      <vt:lpstr>Explaining Agile Roles</vt:lpstr>
      <vt:lpstr>Agile SDLC Phases</vt:lpstr>
      <vt:lpstr>Waterfall vs Agile</vt:lpstr>
      <vt:lpstr>Choosing a Development Approach</vt:lpstr>
      <vt:lpstr>Agile Project-Management Tools</vt:lpstr>
      <vt:lpstr>Key Takeaways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GARRETT, JACOB</cp:lastModifiedBy>
  <cp:revision>1</cp:revision>
  <dcterms:created xsi:type="dcterms:W3CDTF">2013-01-27T09:14:16Z</dcterms:created>
  <dcterms:modified xsi:type="dcterms:W3CDTF">2025-12-14T18:13:43Z</dcterms:modified>
  <cp:category/>
</cp:coreProperties>
</file>